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89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72" r:id="rId8"/>
    <p:sldId id="273" r:id="rId9"/>
    <p:sldId id="263" r:id="rId10"/>
    <p:sldId id="271" r:id="rId11"/>
    <p:sldId id="269" r:id="rId12"/>
    <p:sldId id="270" r:id="rId13"/>
    <p:sldId id="267" r:id="rId14"/>
  </p:sldIdLst>
  <p:sldSz cx="18288000" cy="10287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alibri Light" panose="020F0302020204030204" pitchFamily="34" charset="0"/>
      <p:regular r:id="rId19"/>
      <p:italic r:id="rId20"/>
    </p:embeddedFont>
    <p:embeddedFont>
      <p:font typeface="Montserrat" panose="020B0604020202020204" charset="0"/>
      <p:regular r:id="rId21"/>
    </p:embeddedFont>
    <p:embeddedFont>
      <p:font typeface="Montserrat Bold" panose="020B0604020202020204" charset="0"/>
      <p:regular r:id="rId22"/>
    </p:embeddedFont>
    <p:embeddedFont>
      <p:font typeface="Montserrat Bold Italics" panose="020B0604020202020204" charset="0"/>
      <p:regular r:id="rId23"/>
    </p:embeddedFont>
    <p:embeddedFont>
      <p:font typeface="Montserrat Ultra-Bold" panose="020B0604020202020204" charset="0"/>
      <p:regular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61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322" autoAdjust="0"/>
    <p:restoredTop sz="94622" autoAdjust="0"/>
  </p:normalViewPr>
  <p:slideViewPr>
    <p:cSldViewPr>
      <p:cViewPr varScale="1">
        <p:scale>
          <a:sx n="46" d="100"/>
          <a:sy n="46" d="100"/>
        </p:scale>
        <p:origin x="896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8283238" cy="1028432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43599" y="2946401"/>
            <a:ext cx="10796589" cy="3632196"/>
          </a:xfrm>
        </p:spPr>
        <p:txBody>
          <a:bodyPr anchor="b">
            <a:normAutofit/>
          </a:bodyPr>
          <a:lstStyle>
            <a:lvl1pPr algn="r">
              <a:defRPr sz="72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43599" y="6578599"/>
            <a:ext cx="10796589" cy="2108201"/>
          </a:xfrm>
        </p:spPr>
        <p:txBody>
          <a:bodyPr anchor="t">
            <a:normAutofit/>
          </a:bodyPr>
          <a:lstStyle>
            <a:lvl1pPr marL="0" indent="0" algn="r">
              <a:buNone/>
              <a:defRPr sz="2700" cap="all">
                <a:solidFill>
                  <a:schemeClr val="tx1"/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3398837" y="8805863"/>
            <a:ext cx="2400300" cy="566738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599" y="8805863"/>
            <a:ext cx="7340937" cy="566738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913438" y="8805863"/>
            <a:ext cx="826751" cy="56673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719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8283238" cy="1028432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526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8283238" cy="1028432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1" y="4962872"/>
            <a:ext cx="15197141" cy="2203200"/>
          </a:xfrm>
        </p:spPr>
        <p:txBody>
          <a:bodyPr anchor="b"/>
          <a:lstStyle>
            <a:lvl1pPr algn="l">
              <a:defRPr sz="6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699" y="7166072"/>
            <a:ext cx="15197142" cy="1290600"/>
          </a:xfrm>
        </p:spPr>
        <p:txBody>
          <a:bodyPr anchor="t">
            <a:normAutofit/>
          </a:bodyPr>
          <a:lstStyle>
            <a:lvl1pPr marL="0" indent="0" algn="l">
              <a:buNone/>
              <a:defRPr sz="3000" cap="all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247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8283238" cy="1028432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8703" y="3213101"/>
            <a:ext cx="7493001" cy="54737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32843" y="3213101"/>
            <a:ext cx="7492998" cy="54737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714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0505" y="3327401"/>
            <a:ext cx="7063581" cy="864393"/>
          </a:xfrm>
        </p:spPr>
        <p:txBody>
          <a:bodyPr anchor="b">
            <a:noAutofit/>
          </a:bodyPr>
          <a:lstStyle>
            <a:lvl1pPr marL="0" indent="0">
              <a:buNone/>
              <a:defRPr sz="42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8702" y="4305302"/>
            <a:ext cx="7495385" cy="4381497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44005" y="3340101"/>
            <a:ext cx="7084220" cy="864393"/>
          </a:xfrm>
        </p:spPr>
        <p:txBody>
          <a:bodyPr anchor="b">
            <a:noAutofit/>
          </a:bodyPr>
          <a:lstStyle>
            <a:lvl1pPr marL="0" indent="0">
              <a:buNone/>
              <a:defRPr sz="42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735225" y="4305302"/>
            <a:ext cx="7493001" cy="4381497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727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8283238" cy="1028432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227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8283238" cy="10284321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138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8283238" cy="1028432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1" y="3111499"/>
            <a:ext cx="5521328" cy="2057400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72302" y="914402"/>
            <a:ext cx="9253539" cy="77724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8701" y="5168900"/>
            <a:ext cx="5521328" cy="2743200"/>
          </a:xfrm>
        </p:spPr>
        <p:txBody>
          <a:bodyPr anchor="t">
            <a:normAutofit/>
          </a:bodyPr>
          <a:lstStyle>
            <a:lvl1pPr marL="0" indent="0">
              <a:buNone/>
              <a:defRPr sz="24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624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8283238" cy="1028432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1" y="2400300"/>
            <a:ext cx="9246980" cy="2057400"/>
          </a:xfrm>
        </p:spPr>
        <p:txBody>
          <a:bodyPr anchor="b">
            <a:normAutofit/>
          </a:bodyPr>
          <a:lstStyle>
            <a:lvl1pPr algn="l">
              <a:defRPr sz="4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304380" y="1371600"/>
            <a:ext cx="4921461" cy="6858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8701" y="4457700"/>
            <a:ext cx="9246980" cy="2743200"/>
          </a:xfrm>
        </p:spPr>
        <p:txBody>
          <a:bodyPr anchor="t">
            <a:normAutofit/>
          </a:bodyPr>
          <a:lstStyle>
            <a:lvl1pPr marL="0" indent="0">
              <a:buNone/>
              <a:defRPr sz="27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483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8283238" cy="1028432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1" y="7099298"/>
            <a:ext cx="15197141" cy="85010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057401" y="1398168"/>
            <a:ext cx="13139741" cy="4747464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8701" y="7949405"/>
            <a:ext cx="15197141" cy="740568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165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8283238" cy="1028432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2" y="914402"/>
            <a:ext cx="15197141" cy="4686299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6515100"/>
            <a:ext cx="15197142" cy="2171700"/>
          </a:xfrm>
        </p:spPr>
        <p:txBody>
          <a:bodyPr anchor="ctr">
            <a:normAutofit/>
          </a:bodyPr>
          <a:lstStyle>
            <a:lvl1pPr marL="0" indent="0" algn="l">
              <a:buNone/>
              <a:defRPr sz="30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2633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8283238" cy="102843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5356801" y="4114800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2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2413" y="1235006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2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8401" y="914402"/>
            <a:ext cx="14325599" cy="4114799"/>
          </a:xfrm>
        </p:spPr>
        <p:txBody>
          <a:bodyPr anchor="ctr">
            <a:normAutofit/>
          </a:bodyPr>
          <a:lstStyle>
            <a:lvl1pPr algn="l">
              <a:defRPr sz="48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46813" y="5029200"/>
            <a:ext cx="14008776" cy="5715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198" y="6515100"/>
            <a:ext cx="15228551" cy="2171700"/>
          </a:xfrm>
        </p:spPr>
        <p:txBody>
          <a:bodyPr anchor="ctr">
            <a:normAutofit/>
          </a:bodyPr>
          <a:lstStyle>
            <a:lvl1pPr marL="0" indent="0" algn="l">
              <a:buNone/>
              <a:defRPr sz="30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3723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8283238" cy="1028432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4" y="4962872"/>
            <a:ext cx="15197138" cy="2203200"/>
          </a:xfrm>
        </p:spPr>
        <p:txBody>
          <a:bodyPr anchor="b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2" y="7166072"/>
            <a:ext cx="15197139" cy="1290600"/>
          </a:xfrm>
        </p:spPr>
        <p:txBody>
          <a:bodyPr anchor="t">
            <a:normAutofit/>
          </a:bodyPr>
          <a:lstStyle>
            <a:lvl1pPr marL="0" indent="0" algn="l">
              <a:buNone/>
              <a:defRPr sz="30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8319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8283238" cy="1028432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356801" y="4114800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2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2413" y="1235006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2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488401" y="914402"/>
            <a:ext cx="14325599" cy="4114799"/>
          </a:xfrm>
        </p:spPr>
        <p:txBody>
          <a:bodyPr anchor="ctr">
            <a:normAutofit/>
          </a:bodyPr>
          <a:lstStyle>
            <a:lvl1pPr algn="l">
              <a:defRPr sz="48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8700" y="5829300"/>
            <a:ext cx="15203154" cy="13335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36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699" y="7162800"/>
            <a:ext cx="15203154" cy="1524000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8472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8283238" cy="1028432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2" y="914402"/>
            <a:ext cx="15197141" cy="41147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8702" y="5257800"/>
            <a:ext cx="15197142" cy="12573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42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6515100"/>
            <a:ext cx="15197142" cy="2171700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5343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8283238" cy="10284321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028702" y="914401"/>
            <a:ext cx="15197138" cy="21844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9409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8283238" cy="10284321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988013" y="914399"/>
            <a:ext cx="3237828" cy="777240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914400"/>
            <a:ext cx="11748174" cy="77724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76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8702" y="914401"/>
            <a:ext cx="15197138" cy="2184401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2" y="3213101"/>
            <a:ext cx="15197138" cy="5473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84490" y="8805863"/>
            <a:ext cx="2400300" cy="5667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pPr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28701" y="8805863"/>
            <a:ext cx="11741489" cy="5667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399091" y="8805863"/>
            <a:ext cx="826751" cy="5667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254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  <p:sldLayoutId id="2147483801" r:id="rId12"/>
    <p:sldLayoutId id="2147483802" r:id="rId13"/>
    <p:sldLayoutId id="2147483803" r:id="rId14"/>
    <p:sldLayoutId id="2147483804" r:id="rId15"/>
    <p:sldLayoutId id="2147483805" r:id="rId16"/>
    <p:sldLayoutId id="2147483806" r:id="rId17"/>
  </p:sldLayoutIdLst>
  <p:txStyles>
    <p:titleStyle>
      <a:lvl1pPr algn="l" defTabSz="685800" rtl="0" eaLnBrk="1" latinLnBrk="0" hangingPunct="1">
        <a:spcBef>
          <a:spcPct val="0"/>
        </a:spcBef>
        <a:buNone/>
        <a:defRPr sz="54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28625" indent="-428625" algn="l" defTabSz="685800" rtl="0" eaLnBrk="1" latinLnBrk="0" hangingPunct="1">
        <a:spcBef>
          <a:spcPts val="0"/>
        </a:spcBef>
        <a:spcAft>
          <a:spcPts val="1500"/>
        </a:spcAft>
        <a:buClr>
          <a:schemeClr val="tx1"/>
        </a:buClr>
        <a:buSzPct val="100000"/>
        <a:buFont typeface="Arial"/>
        <a:buChar char="•"/>
        <a:defRPr sz="27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1114425" indent="-428625" algn="l" defTabSz="685800" rtl="0" eaLnBrk="1" latinLnBrk="0" hangingPunct="1">
        <a:spcBef>
          <a:spcPts val="0"/>
        </a:spcBef>
        <a:spcAft>
          <a:spcPts val="1500"/>
        </a:spcAft>
        <a:buClr>
          <a:schemeClr val="tx1"/>
        </a:buClr>
        <a:buSzPct val="100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800225" indent="-428625" algn="l" defTabSz="685800" rtl="0" eaLnBrk="1" latinLnBrk="0" hangingPunct="1">
        <a:spcBef>
          <a:spcPts val="0"/>
        </a:spcBef>
        <a:spcAft>
          <a:spcPts val="1500"/>
        </a:spcAft>
        <a:buClr>
          <a:schemeClr val="tx1"/>
        </a:buClr>
        <a:buSzPct val="100000"/>
        <a:buFont typeface="Arial"/>
        <a:buChar char="•"/>
        <a:defRPr sz="21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2314575" indent="-257175" algn="l" defTabSz="685800" rtl="0" eaLnBrk="1" latinLnBrk="0" hangingPunct="1">
        <a:spcBef>
          <a:spcPts val="0"/>
        </a:spcBef>
        <a:spcAft>
          <a:spcPts val="15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3000375" indent="-257175" algn="l" defTabSz="685800" rtl="0" eaLnBrk="1" latinLnBrk="0" hangingPunct="1">
        <a:spcBef>
          <a:spcPts val="0"/>
        </a:spcBef>
        <a:spcAft>
          <a:spcPts val="15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3771900" indent="-342900" algn="l" defTabSz="685800" rtl="0" eaLnBrk="1" latinLnBrk="0" hangingPunct="1">
        <a:spcBef>
          <a:spcPts val="0"/>
        </a:spcBef>
        <a:spcAft>
          <a:spcPts val="15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4457700" indent="-342900" algn="l" defTabSz="685800" rtl="0" eaLnBrk="1" latinLnBrk="0" hangingPunct="1">
        <a:spcBef>
          <a:spcPts val="0"/>
        </a:spcBef>
        <a:spcAft>
          <a:spcPts val="15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5143500" indent="-342900" algn="l" defTabSz="685800" rtl="0" eaLnBrk="1" latinLnBrk="0" hangingPunct="1">
        <a:spcBef>
          <a:spcPts val="0"/>
        </a:spcBef>
        <a:spcAft>
          <a:spcPts val="15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5829300" indent="-342900" algn="l" defTabSz="685800" rtl="0" eaLnBrk="1" latinLnBrk="0" hangingPunct="1">
        <a:spcBef>
          <a:spcPts val="0"/>
        </a:spcBef>
        <a:spcAft>
          <a:spcPts val="15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716967" y="1019175"/>
            <a:ext cx="10027233" cy="44877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10500" b="1" dirty="0">
                <a:latin typeface="Montserrat Bold" panose="020B0604020202020204" charset="0"/>
                <a:ea typeface="Montserrat Ultra-Bold"/>
                <a:cs typeface="Montserrat Ultra-Bold"/>
                <a:sym typeface="Montserrat Ultra-Bold"/>
              </a:rPr>
              <a:t>Supply Chain   Analysis</a:t>
            </a:r>
          </a:p>
          <a:p>
            <a:pPr algn="l">
              <a:lnSpc>
                <a:spcPts val="9637"/>
              </a:lnSpc>
            </a:pPr>
            <a:endParaRPr lang="en-US" sz="10500" b="1" dirty="0">
              <a:solidFill>
                <a:schemeClr val="accent1">
                  <a:lumMod val="50000"/>
                </a:schemeClr>
              </a:solidFill>
              <a:latin typeface="Montserrat Bold" panose="020B0604020202020204" charset="0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16967" y="7277100"/>
            <a:ext cx="6911112" cy="556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84"/>
              </a:lnSpc>
              <a:spcBef>
                <a:spcPct val="0"/>
              </a:spcBef>
            </a:pPr>
            <a:r>
              <a:rPr lang="en-US" sz="4500" u="none" dirty="0">
                <a:latin typeface="Montserrat"/>
                <a:ea typeface="Montserrat"/>
                <a:cs typeface="Montserrat"/>
                <a:sym typeface="Montserrat"/>
              </a:rPr>
              <a:t>Presented By :</a:t>
            </a:r>
            <a:endParaRPr lang="en-US" sz="4500" b="1" u="none" dirty="0"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3C1639-D2B6-4BD3-9B79-2707563038FA}"/>
              </a:ext>
            </a:extLst>
          </p:cNvPr>
          <p:cNvSpPr txBox="1"/>
          <p:nvPr/>
        </p:nvSpPr>
        <p:spPr>
          <a:xfrm>
            <a:off x="685800" y="8039100"/>
            <a:ext cx="63661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 err="1"/>
              <a:t>Saumya</a:t>
            </a:r>
            <a:r>
              <a:rPr lang="en-IN" sz="3600" dirty="0"/>
              <a:t> Verma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371606" y="574675"/>
            <a:ext cx="12303386" cy="1060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00"/>
              </a:lnSpc>
              <a:spcBef>
                <a:spcPct val="0"/>
              </a:spcBef>
            </a:pPr>
            <a:r>
              <a:rPr lang="en-US" sz="8000" b="1" dirty="0">
                <a:latin typeface="Montserrat Ultra-Bold"/>
                <a:ea typeface="Montserrat Ultra-Bold"/>
                <a:cs typeface="Montserrat Ultra-Bold"/>
                <a:sym typeface="Montserrat Ultra-Bold"/>
              </a:rPr>
              <a:t>Data Overview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90600" y="1485900"/>
            <a:ext cx="15757119" cy="9298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4800" b="1" i="1" dirty="0">
                <a:latin typeface="+mj-lt"/>
                <a:ea typeface="Montserrat Bold Italics"/>
                <a:cs typeface="Montserrat Bold Italics"/>
                <a:sym typeface="Montserrat Bold Italics"/>
              </a:rPr>
              <a:t>Dataset Summary :</a:t>
            </a:r>
            <a:r>
              <a:rPr lang="en-US" sz="6345" b="1" i="1" dirty="0">
                <a:latin typeface="+mj-lt"/>
                <a:ea typeface="Montserrat Bold Italics"/>
                <a:cs typeface="Montserrat Bold Italics"/>
                <a:sym typeface="Montserrat Bold Italics"/>
              </a:rPr>
              <a:t> </a:t>
            </a:r>
          </a:p>
          <a:p>
            <a:pPr marL="571500" indent="-5715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b="1" dirty="0"/>
              <a:t>Product Type</a:t>
            </a:r>
            <a:r>
              <a:rPr lang="en-US" sz="3200" dirty="0"/>
              <a:t>: Categories such as </a:t>
            </a:r>
            <a:r>
              <a:rPr lang="en-US" sz="3200" dirty="0" err="1"/>
              <a:t>skincare,haircare</a:t>
            </a:r>
            <a:r>
              <a:rPr lang="en-US" sz="3200" dirty="0"/>
              <a:t> and cosmetics.</a:t>
            </a:r>
          </a:p>
          <a:p>
            <a:pPr marL="571500" indent="-5715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sz="3200" b="1" dirty="0"/>
              <a:t>SKU</a:t>
            </a:r>
            <a:r>
              <a:rPr lang="fr-FR" sz="3200" dirty="0"/>
              <a:t>: Unique </a:t>
            </a:r>
            <a:r>
              <a:rPr lang="fr-FR" sz="3200" dirty="0" err="1"/>
              <a:t>product</a:t>
            </a:r>
            <a:r>
              <a:rPr lang="fr-FR" sz="3200" dirty="0"/>
              <a:t> identification codes.</a:t>
            </a:r>
          </a:p>
          <a:p>
            <a:pPr marL="571500" indent="-5715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b="1" dirty="0"/>
              <a:t>Price</a:t>
            </a:r>
            <a:r>
              <a:rPr lang="en-US" sz="3200" dirty="0"/>
              <a:t>: Product prices in relevant currency.</a:t>
            </a:r>
          </a:p>
          <a:p>
            <a:pPr marL="571500" indent="-5715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b="1" dirty="0"/>
              <a:t>Availability</a:t>
            </a:r>
            <a:r>
              <a:rPr lang="en-US" sz="3200" dirty="0"/>
              <a:t>: Product stock status (available or out of stock).</a:t>
            </a:r>
          </a:p>
          <a:p>
            <a:pPr marL="571500" indent="-5715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b="1" dirty="0"/>
              <a:t>Sales Data</a:t>
            </a:r>
            <a:r>
              <a:rPr lang="en-US" sz="3200" dirty="0"/>
              <a:t>: Number of products sold, revenue generated.</a:t>
            </a:r>
          </a:p>
          <a:p>
            <a:pPr marL="571500" indent="-5715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b="1" dirty="0"/>
              <a:t>Inventory Metrics</a:t>
            </a:r>
            <a:r>
              <a:rPr lang="en-US" sz="3200" dirty="0"/>
              <a:t>: Stock levels and lead times.</a:t>
            </a:r>
          </a:p>
          <a:p>
            <a:pPr marL="571500" indent="-5715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b="1" dirty="0"/>
              <a:t>Order Details</a:t>
            </a:r>
            <a:r>
              <a:rPr lang="en-US" sz="3200" dirty="0"/>
              <a:t>: Quantities, shipping times, carriers, and costs.</a:t>
            </a:r>
          </a:p>
          <a:p>
            <a:pPr marL="571500" indent="-5715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b="1" dirty="0"/>
              <a:t>Supplier Information</a:t>
            </a:r>
            <a:r>
              <a:rPr lang="en-US" sz="3200" dirty="0"/>
              <a:t>: Names, locations, and lead times.</a:t>
            </a:r>
          </a:p>
          <a:p>
            <a:pPr marL="571500" indent="-5715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b="1" dirty="0"/>
              <a:t>Manufacturing Data</a:t>
            </a:r>
            <a:r>
              <a:rPr lang="en-US" sz="3200" dirty="0"/>
              <a:t>: Production volumes, costs, and lead times.</a:t>
            </a:r>
          </a:p>
          <a:p>
            <a:pPr marL="571500" indent="-5715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b="1" dirty="0"/>
              <a:t>Quality Control</a:t>
            </a:r>
            <a:r>
              <a:rPr lang="en-US" sz="3200" dirty="0"/>
              <a:t>: Inspection results and defect rates.</a:t>
            </a:r>
          </a:p>
          <a:p>
            <a:pPr marL="571500" indent="-5715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b="1" dirty="0"/>
              <a:t>Logistics</a:t>
            </a:r>
            <a:r>
              <a:rPr lang="en-US" sz="3200" dirty="0"/>
              <a:t>: Transportation modes, routes, and associated costs.</a:t>
            </a:r>
            <a:endParaRPr lang="fr-FR" sz="3200" dirty="0"/>
          </a:p>
          <a:p>
            <a:pPr marL="571500" indent="-571500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3600" b="1" i="1" dirty="0">
              <a:latin typeface="+mj-lt"/>
              <a:ea typeface="Montserrat Bold Italics"/>
              <a:cs typeface="Montserrat Bold Italics"/>
              <a:sym typeface="Montserrat Bold Italics"/>
            </a:endParaRPr>
          </a:p>
          <a:p>
            <a:pPr algn="l">
              <a:spcBef>
                <a:spcPct val="0"/>
              </a:spcBef>
            </a:pPr>
            <a:endParaRPr lang="en-US" sz="6345" b="1" i="1" dirty="0">
              <a:latin typeface="+mj-lt"/>
              <a:ea typeface="Montserrat Bold Italics"/>
              <a:cs typeface="Montserrat Bold Italics"/>
              <a:sym typeface="Montserrat Bold Italics"/>
            </a:endParaRPr>
          </a:p>
          <a:p>
            <a:pPr algn="l">
              <a:lnSpc>
                <a:spcPts val="8883"/>
              </a:lnSpc>
              <a:spcBef>
                <a:spcPct val="0"/>
              </a:spcBef>
            </a:pPr>
            <a:endParaRPr lang="en-US" sz="900" b="1" i="1" dirty="0">
              <a:latin typeface="+mj-lt"/>
              <a:ea typeface="Montserrat Bold Italics"/>
              <a:cs typeface="Montserrat Bold Italics"/>
              <a:sym typeface="Montserrat Bold Itali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191000" y="1190624"/>
            <a:ext cx="8035017" cy="1060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  <a:spcBef>
                <a:spcPct val="0"/>
              </a:spcBef>
            </a:pPr>
            <a:r>
              <a:rPr lang="en-US" sz="8000" b="1" dirty="0">
                <a:latin typeface="Montserrat Ultra-Bold"/>
                <a:ea typeface="Montserrat Ultra-Bold"/>
                <a:cs typeface="Montserrat Ultra-Bold"/>
                <a:sym typeface="Montserrat Ultra-Bold"/>
              </a:rPr>
              <a:t>Goals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03488" y="2458666"/>
            <a:ext cx="14498512" cy="58038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39"/>
              </a:lnSpc>
            </a:pPr>
            <a:r>
              <a:rPr lang="en-US" sz="4099" dirty="0">
                <a:solidFill>
                  <a:schemeClr val="tx1">
                    <a:lumMod val="95000"/>
                    <a:lumOff val="5000"/>
                  </a:schemeClr>
                </a:solidFill>
                <a:ea typeface="Montserrat"/>
                <a:cs typeface="Montserrat"/>
                <a:sym typeface="Montserrat"/>
              </a:rPr>
              <a:t>1 . </a:t>
            </a:r>
            <a:r>
              <a:rPr lang="en-US" sz="3200" b="1" dirty="0"/>
              <a:t>Optimize Supply Chain Efficiency</a:t>
            </a:r>
            <a:r>
              <a:rPr lang="en-US" sz="3200" dirty="0"/>
              <a:t>: Enhance operations by identifying bottlenecks and reducing lead times.</a:t>
            </a:r>
          </a:p>
          <a:p>
            <a:pPr>
              <a:lnSpc>
                <a:spcPts val="5739"/>
              </a:lnSpc>
            </a:pPr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ea typeface="Montserrat"/>
                <a:cs typeface="Montserrat"/>
                <a:sym typeface="Montserrat"/>
              </a:rPr>
              <a:t>2 . </a:t>
            </a:r>
            <a:r>
              <a:rPr lang="en-US" sz="3200" b="1" dirty="0"/>
              <a:t>Improve Customer Satisfaction</a:t>
            </a:r>
            <a:r>
              <a:rPr lang="en-US" sz="3200" dirty="0"/>
              <a:t>: Ensure timely deliveries and maintain product availability.</a:t>
            </a:r>
          </a:p>
          <a:p>
            <a:pPr>
              <a:lnSpc>
                <a:spcPts val="5739"/>
              </a:lnSpc>
            </a:pPr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ea typeface="Montserrat"/>
                <a:cs typeface="Montserrat"/>
                <a:sym typeface="Montserrat"/>
              </a:rPr>
              <a:t>3.</a:t>
            </a:r>
            <a:r>
              <a:rPr lang="en-US" sz="3200" b="1" dirty="0"/>
              <a:t> Minimize Costs</a:t>
            </a:r>
            <a:r>
              <a:rPr lang="en-US" sz="3200" dirty="0"/>
              <a:t>: Analyze and reduce manufacturing, shipping, and inventory expenses.</a:t>
            </a:r>
            <a:endParaRPr lang="en-US" sz="3200" dirty="0">
              <a:solidFill>
                <a:schemeClr val="tx1">
                  <a:lumMod val="95000"/>
                  <a:lumOff val="5000"/>
                </a:schemeClr>
              </a:solidFill>
              <a:ea typeface="Montserrat"/>
              <a:cs typeface="Montserrat"/>
              <a:sym typeface="Montserrat"/>
            </a:endParaRPr>
          </a:p>
          <a:p>
            <a:pPr>
              <a:lnSpc>
                <a:spcPts val="5739"/>
              </a:lnSpc>
            </a:pPr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ea typeface="Montserrat"/>
                <a:cs typeface="Montserrat"/>
                <a:sym typeface="Montserrat"/>
              </a:rPr>
              <a:t>4. </a:t>
            </a:r>
            <a:r>
              <a:rPr lang="en-IN" sz="3200" b="1" dirty="0"/>
              <a:t>Data-Driven Decision Making</a:t>
            </a:r>
            <a:r>
              <a:rPr lang="en-IN" sz="3200" dirty="0"/>
              <a:t>: </a:t>
            </a:r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ea typeface="Montserrat"/>
                <a:cs typeface="Montserrat"/>
                <a:sym typeface="Montserrat"/>
              </a:rPr>
              <a:t>Leverage insights from Power BI dashboards for data-driven decision-making.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1676400" y="2554039"/>
            <a:ext cx="201662" cy="192864"/>
            <a:chOff x="0" y="0"/>
            <a:chExt cx="6350000" cy="6350000"/>
          </a:xfrm>
          <a:solidFill>
            <a:schemeClr val="tx1"/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grpFill/>
          </p:spPr>
        </p:sp>
      </p:grpSp>
      <p:sp>
        <p:nvSpPr>
          <p:cNvPr id="8" name="TextBox 8"/>
          <p:cNvSpPr txBox="1"/>
          <p:nvPr/>
        </p:nvSpPr>
        <p:spPr>
          <a:xfrm>
            <a:off x="1066800" y="865550"/>
            <a:ext cx="14020800" cy="10604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000"/>
              </a:lnSpc>
              <a:spcBef>
                <a:spcPct val="0"/>
              </a:spcBef>
            </a:pPr>
            <a:r>
              <a:rPr lang="en-US" sz="8000" b="1" dirty="0">
                <a:latin typeface="Montserrat Ultra-Bold"/>
                <a:ea typeface="Montserrat Ultra-Bold"/>
                <a:cs typeface="Montserrat Ultra-Bold"/>
                <a:sym typeface="Montserrat Ultra-Bold"/>
              </a:rPr>
              <a:t>Tools Used in the Project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286001" y="2417161"/>
            <a:ext cx="14973300" cy="13135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3200" b="1" dirty="0">
                <a:ea typeface="Montserrat"/>
                <a:cs typeface="Montserrat"/>
                <a:sym typeface="Montserrat"/>
              </a:rPr>
              <a:t>SQL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3200" dirty="0">
                <a:ea typeface="Montserrat"/>
                <a:cs typeface="Montserrat"/>
                <a:sym typeface="Montserrat"/>
              </a:rPr>
              <a:t>Used to extract data from the team’s database for analysis.</a:t>
            </a:r>
          </a:p>
          <a:p>
            <a:pPr algn="l">
              <a:lnSpc>
                <a:spcPts val="3499"/>
              </a:lnSpc>
            </a:pPr>
            <a:endParaRPr lang="en-US" sz="2499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209800" y="4345156"/>
            <a:ext cx="13792199" cy="22111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3200" b="1" dirty="0">
                <a:ea typeface="Montserrat"/>
                <a:cs typeface="Montserrat"/>
                <a:sym typeface="Montserrat"/>
              </a:rPr>
              <a:t>Power BI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3200" dirty="0">
                <a:ea typeface="Montserrat"/>
                <a:cs typeface="Montserrat"/>
                <a:sym typeface="Montserrat"/>
              </a:rPr>
              <a:t>Used to create interactive dashboards and visualizations for better insights into profit trends. Power BI helped in visualizing sales performance, expenses, and operational efficiency across various business segments.</a:t>
            </a:r>
          </a:p>
          <a:p>
            <a:pPr algn="l">
              <a:lnSpc>
                <a:spcPts val="3499"/>
              </a:lnSpc>
            </a:pPr>
            <a:endParaRPr lang="en-US" sz="2499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286001" y="3956559"/>
            <a:ext cx="14325599" cy="9383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endParaRPr lang="en-US" sz="3200" dirty="0"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779"/>
              </a:lnSpc>
            </a:pPr>
            <a:endParaRPr lang="en-US" sz="2699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6" name="Group 6">
            <a:extLst>
              <a:ext uri="{FF2B5EF4-FFF2-40B4-BE49-F238E27FC236}">
                <a16:creationId xmlns:a16="http://schemas.microsoft.com/office/drawing/2014/main" id="{A3975AEC-8013-48D7-83F8-B2667BE4D44C}"/>
              </a:ext>
            </a:extLst>
          </p:cNvPr>
          <p:cNvGrpSpPr/>
          <p:nvPr/>
        </p:nvGrpSpPr>
        <p:grpSpPr>
          <a:xfrm>
            <a:off x="1676400" y="4457700"/>
            <a:ext cx="201662" cy="192864"/>
            <a:chOff x="0" y="0"/>
            <a:chExt cx="6350000" cy="6350000"/>
          </a:xfrm>
          <a:solidFill>
            <a:schemeClr val="tx1"/>
          </a:solidFill>
        </p:grpSpPr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B4B1BE1D-1E73-4DCD-9876-945E4E3FB3EA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grpFill/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1371600" y="513492"/>
            <a:ext cx="15726634" cy="10604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000"/>
              </a:lnSpc>
              <a:spcBef>
                <a:spcPct val="0"/>
              </a:spcBef>
            </a:pPr>
            <a:r>
              <a:rPr lang="en-US" sz="8000" b="1" dirty="0">
                <a:latin typeface="Montserrat Ultra-Bold"/>
                <a:ea typeface="Montserrat Ultra-Bold"/>
                <a:cs typeface="Montserrat Ultra-Bold"/>
                <a:sym typeface="Montserrat Ultra-Bold"/>
              </a:rPr>
              <a:t>Analysis Results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DDCBEF-B965-4A41-9166-B78AB3E57DF4}"/>
              </a:ext>
            </a:extLst>
          </p:cNvPr>
          <p:cNvSpPr txBox="1"/>
          <p:nvPr/>
        </p:nvSpPr>
        <p:spPr>
          <a:xfrm>
            <a:off x="1371600" y="2294538"/>
            <a:ext cx="15802834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Total Revenue</a:t>
            </a:r>
            <a:r>
              <a:rPr lang="en-US" sz="3200" dirty="0"/>
              <a:t>: $55.57</a:t>
            </a:r>
            <a:br>
              <a:rPr lang="en-US" sz="3200" dirty="0"/>
            </a:br>
            <a:r>
              <a:rPr lang="en-US" sz="3200" dirty="0"/>
              <a:t>- Despite the modest revenue, opportunities for growth can be identified through efficient stock management and strategic pricing.</a:t>
            </a:r>
          </a:p>
          <a:p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Number of Products Sold</a:t>
            </a:r>
            <a:r>
              <a:rPr lang="en-US" sz="3200" dirty="0"/>
              <a:t>: 4,276</a:t>
            </a:r>
          </a:p>
          <a:p>
            <a:pPr lvl="1"/>
            <a:r>
              <a:rPr lang="en-US" sz="3200" dirty="0"/>
              <a:t>- High product sales volume highlights strong customer engagement, which can be leveraged to improve revenue through cross-selling and upselling strategies.</a:t>
            </a:r>
          </a:p>
          <a:p>
            <a:pPr lvl="1"/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Average Shipping Cost</a:t>
            </a:r>
            <a:r>
              <a:rPr lang="en-US" sz="3200" dirty="0"/>
              <a:t>: $5</a:t>
            </a:r>
            <a:br>
              <a:rPr lang="en-US" sz="3200" dirty="0"/>
            </a:br>
            <a:r>
              <a:rPr lang="en-US" sz="3200" dirty="0"/>
              <a:t>- Competitive shipping costs suggest a well-managed logistics system, but further optimization could increase profitability.</a:t>
            </a:r>
          </a:p>
          <a:p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Top Product Category</a:t>
            </a:r>
            <a:endParaRPr lang="en-US" sz="3200" dirty="0"/>
          </a:p>
          <a:p>
            <a:r>
              <a:rPr lang="en-US" sz="3200" dirty="0"/>
              <a:t>     The most sold product category is </a:t>
            </a:r>
            <a:r>
              <a:rPr lang="en-US" sz="3200" b="1" dirty="0"/>
              <a:t>Cosmetics</a:t>
            </a:r>
            <a:r>
              <a:rPr lang="en-US" sz="3200" dirty="0"/>
              <a:t>, contributing significantly to overall sales.</a:t>
            </a:r>
          </a:p>
          <a:p>
            <a:endParaRPr lang="en-US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028700" y="392675"/>
            <a:ext cx="16861874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7000" b="1" dirty="0">
                <a:latin typeface="Montserrat Ultra-Bold"/>
                <a:ea typeface="Montserrat Ultra-Bold"/>
                <a:cs typeface="Montserrat Ultra-Bold"/>
                <a:sym typeface="Montserrat Ultra-Bold"/>
              </a:rPr>
              <a:t>Power BI Dashboard:</a:t>
            </a:r>
            <a:r>
              <a:rPr lang="en-US" sz="7000" b="1" dirty="0">
                <a:solidFill>
                  <a:schemeClr val="accent1">
                    <a:lumMod val="50000"/>
                  </a:schemeClr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D95DD4-1A67-46AC-9BFA-1097D43219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562100"/>
            <a:ext cx="11811000" cy="8458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D23FBD-E15E-4313-9F81-C97B193D78F6}"/>
              </a:ext>
            </a:extLst>
          </p:cNvPr>
          <p:cNvSpPr txBox="1"/>
          <p:nvPr/>
        </p:nvSpPr>
        <p:spPr>
          <a:xfrm>
            <a:off x="304800" y="1611191"/>
            <a:ext cx="5638800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Page 1: Overview/Executive Summary</a:t>
            </a:r>
          </a:p>
          <a:p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Purpose:</a:t>
            </a:r>
            <a:r>
              <a:rPr lang="en-US" sz="2400" dirty="0"/>
              <a:t> Provides a high-level summary of the supply chain performance.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Visualizations Used:</a:t>
            </a:r>
            <a:endParaRPr lang="en-US" sz="2400" dirty="0"/>
          </a:p>
          <a:p>
            <a:pPr lvl="1"/>
            <a:r>
              <a:rPr lang="en-US" sz="2400" b="1" dirty="0"/>
              <a:t>- KPI Cards:</a:t>
            </a:r>
            <a:r>
              <a:rPr lang="en-US" sz="2400" dirty="0"/>
              <a:t> Metrics like Total Revenue, Avg manufacturing cost, Total Products Sold, and Most Selling Product.</a:t>
            </a:r>
          </a:p>
          <a:p>
            <a:pPr lvl="1"/>
            <a:endParaRPr lang="en-US" sz="2400" dirty="0"/>
          </a:p>
          <a:p>
            <a:pPr lvl="1"/>
            <a:r>
              <a:rPr lang="en-US" sz="2400" b="1" dirty="0"/>
              <a:t>- Bar Chart:</a:t>
            </a:r>
            <a:r>
              <a:rPr lang="en-US" sz="2400" dirty="0"/>
              <a:t> Breakdown of revenue or   Defects rates by product categories.</a:t>
            </a:r>
          </a:p>
          <a:p>
            <a:pPr lvl="1"/>
            <a:endParaRPr lang="en-US" sz="2400" dirty="0"/>
          </a:p>
          <a:p>
            <a:pPr lvl="1"/>
            <a:r>
              <a:rPr lang="en-US" sz="2400" b="1" dirty="0"/>
              <a:t>- Line Chart:</a:t>
            </a:r>
            <a:r>
              <a:rPr lang="en-US" sz="2400" dirty="0"/>
              <a:t> Total revenue acc to </a:t>
            </a:r>
            <a:r>
              <a:rPr lang="en-IN" sz="2400" dirty="0"/>
              <a:t>Stock Keeping Unit</a:t>
            </a:r>
            <a:endParaRPr lang="en-US" sz="2400" dirty="0"/>
          </a:p>
          <a:p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Key Insights:</a:t>
            </a:r>
          </a:p>
          <a:p>
            <a:pPr lvl="1"/>
            <a:r>
              <a:rPr lang="en-US" sz="2400" dirty="0"/>
              <a:t>- A snapshot of the business's overall    performance.</a:t>
            </a:r>
          </a:p>
          <a:p>
            <a:pPr marL="800100" lvl="1" indent="-342900">
              <a:buFontTx/>
              <a:buChar char="-"/>
            </a:pP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028700" y="309548"/>
            <a:ext cx="16861874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7000" b="1" dirty="0">
                <a:latin typeface="Montserrat Ultra-Bold"/>
                <a:ea typeface="Montserrat Ultra-Bold"/>
                <a:cs typeface="Montserrat Ultra-Bold"/>
                <a:sym typeface="Montserrat Ultra-Bold"/>
              </a:rPr>
              <a:t>Power BI Dashboard:</a:t>
            </a:r>
            <a:r>
              <a:rPr lang="en-US" sz="7000" b="1" dirty="0">
                <a:solidFill>
                  <a:schemeClr val="accent1">
                    <a:lumMod val="50000"/>
                  </a:schemeClr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B2D6BB-7A2F-491F-A2DE-7BF22FB7E5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1485900"/>
            <a:ext cx="12192000" cy="853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502D53F-F71B-4C00-AFBD-F8DD0ADD53F4}"/>
              </a:ext>
            </a:extLst>
          </p:cNvPr>
          <p:cNvSpPr txBox="1"/>
          <p:nvPr/>
        </p:nvSpPr>
        <p:spPr>
          <a:xfrm>
            <a:off x="152400" y="1496291"/>
            <a:ext cx="5424055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Page 2: Revenue Analysis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Purpose:</a:t>
            </a:r>
            <a:r>
              <a:rPr lang="en-US" sz="2400" dirty="0"/>
              <a:t> Focuses on detailed insights about revenue and sales percentage.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Visualizations Used:</a:t>
            </a:r>
            <a:endParaRPr lang="en-US" sz="2400" dirty="0"/>
          </a:p>
          <a:p>
            <a:pPr lvl="1"/>
            <a:r>
              <a:rPr lang="en-US" sz="2400" b="1" dirty="0"/>
              <a:t>- Bar Chart:</a:t>
            </a:r>
            <a:r>
              <a:rPr lang="en-US" sz="2400" dirty="0"/>
              <a:t> Revenue generated by suppliers and location.</a:t>
            </a:r>
          </a:p>
          <a:p>
            <a:pPr lvl="1"/>
            <a:endParaRPr lang="en-US" sz="2400" dirty="0"/>
          </a:p>
          <a:p>
            <a:pPr lvl="1"/>
            <a:r>
              <a:rPr lang="en-US" sz="2400" b="1" dirty="0"/>
              <a:t>- Column Chart:</a:t>
            </a:r>
            <a:r>
              <a:rPr lang="en-US" sz="2400" dirty="0"/>
              <a:t> Revenue Generated by carriers.</a:t>
            </a:r>
          </a:p>
          <a:p>
            <a:pPr marL="800100" lvl="1" indent="-342900">
              <a:buFontTx/>
              <a:buChar char="-"/>
            </a:pPr>
            <a:endParaRPr lang="en-US" sz="2400" dirty="0"/>
          </a:p>
          <a:p>
            <a:pPr lvl="1"/>
            <a:r>
              <a:rPr lang="en-US" sz="2400" b="1" dirty="0"/>
              <a:t>- Pie Chart:</a:t>
            </a:r>
            <a:r>
              <a:rPr lang="en-US" sz="2400" dirty="0"/>
              <a:t> percentage of sales by individual products.</a:t>
            </a:r>
          </a:p>
          <a:p>
            <a:pPr lvl="1"/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Key Insights:</a:t>
            </a:r>
            <a:endParaRPr lang="en-US" sz="2400" dirty="0"/>
          </a:p>
          <a:p>
            <a:pPr marL="342900" indent="-342900">
              <a:buFontTx/>
              <a:buChar char="-"/>
            </a:pPr>
            <a:r>
              <a:rPr lang="en-US" sz="2400" dirty="0"/>
              <a:t>Identifies revenue distribution and performance across suppliers, carriers, locations, and product types.</a:t>
            </a:r>
          </a:p>
          <a:p>
            <a:pPr marL="342900" indent="-342900">
              <a:buFontTx/>
              <a:buChar char="-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07844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028700" y="392675"/>
            <a:ext cx="16861874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7000" b="1" dirty="0">
                <a:latin typeface="Montserrat Ultra-Bold"/>
                <a:ea typeface="Montserrat Ultra-Bold"/>
                <a:cs typeface="Montserrat Ultra-Bold"/>
                <a:sym typeface="Montserrat Ultra-Bold"/>
              </a:rPr>
              <a:t>Power BI Dashboard:</a:t>
            </a:r>
            <a:r>
              <a:rPr lang="en-US" sz="7000" b="1" dirty="0">
                <a:solidFill>
                  <a:schemeClr val="accent1">
                    <a:lumMod val="50000"/>
                  </a:schemeClr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032930-C0C9-4771-91C5-4A59E34B01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485900"/>
            <a:ext cx="11963399" cy="8534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D9E6F6-F2C5-476C-BC82-B22DD00518FE}"/>
              </a:ext>
            </a:extLst>
          </p:cNvPr>
          <p:cNvSpPr txBox="1"/>
          <p:nvPr/>
        </p:nvSpPr>
        <p:spPr>
          <a:xfrm>
            <a:off x="228601" y="1485900"/>
            <a:ext cx="5714999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Page 3: Shipping and Supply Chain Efficiency</a:t>
            </a:r>
          </a:p>
          <a:p>
            <a:endParaRPr lang="en-US" sz="2400" b="1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Purpose</a:t>
            </a:r>
            <a:r>
              <a:rPr lang="en-US" sz="2400" dirty="0"/>
              <a:t>: Highlights shipping costs, defect rates, and transportation efficiency.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Visualizations</a:t>
            </a:r>
            <a:r>
              <a:rPr lang="en-US" sz="2400" dirty="0"/>
              <a:t>:</a:t>
            </a:r>
          </a:p>
          <a:p>
            <a:pPr lvl="1"/>
            <a:r>
              <a:rPr lang="en-US" sz="2400" dirty="0"/>
              <a:t>- </a:t>
            </a:r>
            <a:r>
              <a:rPr lang="en-US" sz="2400" b="1" dirty="0"/>
              <a:t>Bar charts: </a:t>
            </a:r>
            <a:r>
              <a:rPr lang="en-US" sz="2400" dirty="0"/>
              <a:t>Products sold and shipping costs by carriers.</a:t>
            </a:r>
          </a:p>
          <a:p>
            <a:pPr lvl="1"/>
            <a:r>
              <a:rPr lang="en-US" sz="2400" dirty="0"/>
              <a:t>- </a:t>
            </a:r>
            <a:r>
              <a:rPr lang="en-US" sz="2400" b="1" dirty="0"/>
              <a:t>Pie charts: </a:t>
            </a:r>
            <a:r>
              <a:rPr lang="en-US" sz="2400" dirty="0"/>
              <a:t>Defect rates and total price by transportation modes.</a:t>
            </a:r>
          </a:p>
          <a:p>
            <a:pPr lvl="1"/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Key Insights</a:t>
            </a:r>
            <a:r>
              <a:rPr lang="en-US" sz="2400" dirty="0"/>
              <a:t>:</a:t>
            </a:r>
          </a:p>
          <a:p>
            <a:pPr lvl="1"/>
            <a:r>
              <a:rPr lang="en-US" sz="2400" b="1" dirty="0"/>
              <a:t>- Carrier B</a:t>
            </a:r>
            <a:r>
              <a:rPr lang="en-US" sz="2400" dirty="0"/>
              <a:t> has the highest shipping cost and product volume.</a:t>
            </a:r>
          </a:p>
          <a:p>
            <a:pPr lvl="1"/>
            <a:endParaRPr lang="en-US" sz="2400" b="1" dirty="0"/>
          </a:p>
          <a:p>
            <a:pPr lvl="1"/>
            <a:r>
              <a:rPr lang="en-US" sz="2400" b="1" dirty="0"/>
              <a:t>-Road transportation</a:t>
            </a:r>
            <a:r>
              <a:rPr lang="en-US" sz="2400" dirty="0"/>
              <a:t> shows the highest defect rates.</a:t>
            </a:r>
          </a:p>
          <a:p>
            <a:pPr lvl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97480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1905000" y="430887"/>
            <a:ext cx="10931723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 b="1" dirty="0">
                <a:latin typeface="Montserrat Bold"/>
                <a:ea typeface="Montserrat Bold"/>
                <a:cs typeface="Montserrat Bold"/>
                <a:sym typeface="Montserrat Bold"/>
              </a:rPr>
              <a:t>Insights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B2B2DC-9215-444F-9EFE-F7E2F03AC2E7}"/>
              </a:ext>
            </a:extLst>
          </p:cNvPr>
          <p:cNvSpPr txBox="1"/>
          <p:nvPr/>
        </p:nvSpPr>
        <p:spPr>
          <a:xfrm>
            <a:off x="1219200" y="2038588"/>
            <a:ext cx="15316200" cy="7817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Most Profitable Product Type:</a:t>
            </a:r>
            <a:r>
              <a:rPr lang="en-US" sz="2800" dirty="0"/>
              <a:t> Cosmetics generate the highest revenue among product types. Focusing on promoting and optimizing the supply chain for this category could increase profitability.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High Defect Rates in Skincare:</a:t>
            </a:r>
            <a:r>
              <a:rPr lang="en-US" sz="2800" dirty="0"/>
              <a:t> Skincare products show a significantly higher defect rate compared to cosmetics and haircare. Investigating manufacturing or quality control processes in this segment is critical.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Top Revenue-Generating Locations: </a:t>
            </a:r>
            <a:r>
              <a:rPr lang="en-US" sz="2800" dirty="0"/>
              <a:t>Cities like Bangalore and Delhi contribute the most revenue. Expanding marketing efforts and inventory for these locations can help maximize sales.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Effective Suppliers: </a:t>
            </a:r>
            <a:r>
              <a:rPr lang="en-US" sz="2800" dirty="0"/>
              <a:t>Supplier 1 contributes the highest revenue among suppliers. Strengthening partnerships with Supplier 1 and analyzing their processes could improve supply chain efficiency.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Carrier Performance: </a:t>
            </a:r>
            <a:r>
              <a:rPr lang="en-US" sz="2800" dirty="0"/>
              <a:t>Carrier B generates the highest revenue and handles a significant portion of products sold. Ensuring Carrier B's operations remain efficient is important for sustaining supply chain performance.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1808505" y="419100"/>
            <a:ext cx="10931723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 b="1" dirty="0">
                <a:latin typeface="Montserrat Bold"/>
                <a:ea typeface="Montserrat Bold"/>
                <a:cs typeface="Montserrat Bold"/>
                <a:sym typeface="Montserrat Bold"/>
              </a:rPr>
              <a:t>Insights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B2B2DC-9215-444F-9EFE-F7E2F03AC2E7}"/>
              </a:ext>
            </a:extLst>
          </p:cNvPr>
          <p:cNvSpPr txBox="1"/>
          <p:nvPr/>
        </p:nvSpPr>
        <p:spPr>
          <a:xfrm>
            <a:off x="1219200" y="2038588"/>
            <a:ext cx="15316200" cy="754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Cost vs. Transportation: </a:t>
            </a:r>
            <a:r>
              <a:rPr lang="en-US" sz="2800" dirty="0"/>
              <a:t>Air transportation incurs the highest cost but may have lower defect rates. A balance between cost and defect management can improve operational efficiency.</a:t>
            </a:r>
          </a:p>
          <a:p>
            <a:endParaRPr lang="en-US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Sales by Product Type: </a:t>
            </a:r>
            <a:r>
              <a:rPr lang="en-US" sz="2800" dirty="0"/>
              <a:t>Cosmetics represent over 50% of total sales. Prioritizing cosmetics in marketing and supply chain planning will yield better outcomes.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Shipping Costs and Lead Time: </a:t>
            </a:r>
            <a:r>
              <a:rPr lang="en-US" sz="2800" dirty="0"/>
              <a:t>The average shipping cost is $5, and the lead time is 16.1 days. Optimizing these metrics, especially for high-demand locations, can improve customer satisfaction and profitability.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Revenue by Product SKU: </a:t>
            </a:r>
            <a:r>
              <a:rPr lang="en-US" sz="2800" dirty="0"/>
              <a:t>Revenue trends vary significantly by SKU, with certain SKUs outperforming others. Identifying high-performing SKUs and focusing production on them can drive revenue growth.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Defect Rates by Transportation: </a:t>
            </a:r>
            <a:r>
              <a:rPr lang="en-US" sz="2800" dirty="0"/>
              <a:t>Road and rail transportation have higher defect rates compared to air. Investing in better packaging or exploring alternative carriers for these modes can reduce defect-related losses.</a:t>
            </a:r>
            <a:endParaRPr lang="en-US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1993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>
            <a:extLst>
              <a:ext uri="{FF2B5EF4-FFF2-40B4-BE49-F238E27FC236}">
                <a16:creationId xmlns:a16="http://schemas.microsoft.com/office/drawing/2014/main" id="{B25B8258-B79A-43C6-AE37-CDC624640BEF}"/>
              </a:ext>
            </a:extLst>
          </p:cNvPr>
          <p:cNvSpPr txBox="1"/>
          <p:nvPr/>
        </p:nvSpPr>
        <p:spPr>
          <a:xfrm>
            <a:off x="1066800" y="495300"/>
            <a:ext cx="16861874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7000" b="1" dirty="0">
                <a:latin typeface="Montserrat Ultra-Bold"/>
                <a:ea typeface="Montserrat Ultra-Bold"/>
                <a:cs typeface="Montserrat Ultra-Bold"/>
                <a:sym typeface="Montserrat Ultra-Bold"/>
              </a:rPr>
              <a:t>Suggestions:</a:t>
            </a:r>
            <a:r>
              <a:rPr lang="en-US" sz="7000" b="1" dirty="0">
                <a:solidFill>
                  <a:schemeClr val="accent1">
                    <a:lumMod val="50000"/>
                  </a:schemeClr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DD82A8-7AEE-493B-AF0F-78666F59E47A}"/>
              </a:ext>
            </a:extLst>
          </p:cNvPr>
          <p:cNvSpPr txBox="1"/>
          <p:nvPr/>
        </p:nvSpPr>
        <p:spPr>
          <a:xfrm>
            <a:off x="8686800" y="4684426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6339ED-E7E6-4E98-A641-67CA7345C316}"/>
              </a:ext>
            </a:extLst>
          </p:cNvPr>
          <p:cNvSpPr txBox="1"/>
          <p:nvPr/>
        </p:nvSpPr>
        <p:spPr>
          <a:xfrm>
            <a:off x="838200" y="1943100"/>
            <a:ext cx="16611600" cy="4992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Optimize Carrier B's high shipping costs while maintaining product volume.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Reduce defect rates, especially for road and rail transportation.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Strengthen partnerships with top suppliers like Supplier 1.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Focus marketing and inventory in key locations like Bangalore and Delhi.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Prioritize cosmetics (highest revenue generator) and improve skincare quality.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Leverage dashboards for ongoing monitoring and improvements.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6362576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>
            <a:extLst>
              <a:ext uri="{FF2B5EF4-FFF2-40B4-BE49-F238E27FC236}">
                <a16:creationId xmlns:a16="http://schemas.microsoft.com/office/drawing/2014/main" id="{41BEA5BC-79EB-4AF1-B68A-AB5E45BD8DA7}"/>
              </a:ext>
            </a:extLst>
          </p:cNvPr>
          <p:cNvSpPr txBox="1"/>
          <p:nvPr/>
        </p:nvSpPr>
        <p:spPr>
          <a:xfrm>
            <a:off x="1066800" y="495300"/>
            <a:ext cx="16861874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7000" b="1" dirty="0">
                <a:latin typeface="Montserrat Ultra-Bold"/>
                <a:ea typeface="Montserrat Ultra-Bold"/>
                <a:cs typeface="Montserrat Ultra-Bold"/>
                <a:sym typeface="Montserrat Ultra-Bold"/>
              </a:rPr>
              <a:t>Conclusion:</a:t>
            </a:r>
            <a:r>
              <a:rPr lang="en-US" sz="7000" b="1" dirty="0">
                <a:solidFill>
                  <a:schemeClr val="accent1">
                    <a:lumMod val="50000"/>
                  </a:schemeClr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BD20FC-11D9-4CBA-AB90-4C5F47BDEB3C}"/>
              </a:ext>
            </a:extLst>
          </p:cNvPr>
          <p:cNvSpPr txBox="1"/>
          <p:nvPr/>
        </p:nvSpPr>
        <p:spPr>
          <a:xfrm>
            <a:off x="914400" y="1714500"/>
            <a:ext cx="16459200" cy="74854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The analysis reveals significant opportunities for optimizing supply chain operations through targeted strategies.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Prioritizing high-revenue products like cosmetics, improving quality control for skincare, addressing high shipping costs with Carrier B, and focusing on top-performing locations like Bangalore and Delhi can enhance overall profitability and customer satisfaction.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Investments in better packaging and alternative transportation modes can also minimize defect rates and ensure smoother operations.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Leveraging data insights will ensure sustained supply chain efficiency and growth.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668187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76600" y="4076700"/>
            <a:ext cx="10790678" cy="1806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243"/>
              </a:lnSpc>
              <a:spcBef>
                <a:spcPct val="0"/>
              </a:spcBef>
            </a:pPr>
            <a:r>
              <a:rPr lang="en-US" sz="10888" b="1" dirty="0"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960</TotalTime>
  <Words>1042</Words>
  <Application>Microsoft Office PowerPoint</Application>
  <PresentationFormat>Custom</PresentationFormat>
  <Paragraphs>112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Calibri Light</vt:lpstr>
      <vt:lpstr>Montserrat Bold Italics</vt:lpstr>
      <vt:lpstr>Montserrat Bold</vt:lpstr>
      <vt:lpstr>Montserrat</vt:lpstr>
      <vt:lpstr>Montserrat Ultra-Bold</vt:lpstr>
      <vt:lpstr>Calibri</vt:lpstr>
      <vt:lpstr>Arial</vt:lpstr>
      <vt:lpstr>Celestial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Corporate Presentation</dc:title>
  <dc:creator>Khagendra Patil</dc:creator>
  <cp:lastModifiedBy>msi 1</cp:lastModifiedBy>
  <cp:revision>28</cp:revision>
  <dcterms:created xsi:type="dcterms:W3CDTF">2006-08-16T00:00:00Z</dcterms:created>
  <dcterms:modified xsi:type="dcterms:W3CDTF">2025-02-11T14:49:33Z</dcterms:modified>
  <dc:identifier>DAGYU49VGwk</dc:identifier>
</cp:coreProperties>
</file>